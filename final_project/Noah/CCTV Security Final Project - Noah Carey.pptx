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ource Sans Pro Bold" charset="1" panose="020B0703030403020204"/>
      <p:regular r:id="rId19"/>
    </p:embeddedFont>
    <p:embeddedFont>
      <p:font typeface="Poppins" charset="1" panose="00000500000000000000"/>
      <p:regular r:id="rId20"/>
    </p:embeddedFont>
    <p:embeddedFont>
      <p:font typeface="Source Sans Pro" charset="1" panose="020B0503030403020204"/>
      <p:regular r:id="rId21"/>
    </p:embeddedFont>
    <p:embeddedFont>
      <p:font typeface="Poppins Medium" charset="1" panose="00000600000000000000"/>
      <p:regular r:id="rId22"/>
    </p:embeddedFont>
    <p:embeddedFont>
      <p:font typeface="ITC Franklin Gothic LT" charset="1" panose="020B0504030503020204"/>
      <p:regular r:id="rId23"/>
    </p:embeddedFont>
    <p:embeddedFont>
      <p:font typeface="ITC Franklin Gothic LT Italics" charset="1" panose="020B0504030503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06641">
            <a:off x="-2502093" y="-203450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87928" y="4008288"/>
            <a:ext cx="10712144" cy="205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9"/>
              </a:lnSpc>
            </a:pPr>
            <a:r>
              <a:rPr lang="en-US" sz="6115" b="true">
                <a:solidFill>
                  <a:srgbClr val="46607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The Effects of Nearby Surveillance on High School Graduation Rates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73063" y="6035691"/>
            <a:ext cx="8541874" cy="58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3640">
                <a:solidFill>
                  <a:srgbClr val="46607D"/>
                </a:solidFill>
                <a:latin typeface="Poppins"/>
                <a:ea typeface="Poppins"/>
                <a:cs typeface="Poppins"/>
                <a:sym typeface="Poppins"/>
              </a:rPr>
              <a:t>Noah Carey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906641">
            <a:off x="14262379" y="-301456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5988137"/>
                </a:moveTo>
                <a:lnTo>
                  <a:pt x="7734945" y="5988137"/>
                </a:lnTo>
                <a:lnTo>
                  <a:pt x="7734945" y="0"/>
                </a:lnTo>
                <a:lnTo>
                  <a:pt x="0" y="0"/>
                </a:lnTo>
                <a:lnTo>
                  <a:pt x="0" y="59881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40549" y="1313651"/>
            <a:ext cx="4085891" cy="3100170"/>
          </a:xfrm>
          <a:custGeom>
            <a:avLst/>
            <a:gdLst/>
            <a:ahLst/>
            <a:cxnLst/>
            <a:rect r="r" b="b" t="t" l="l"/>
            <a:pathLst>
              <a:path h="3100170" w="4085891">
                <a:moveTo>
                  <a:pt x="0" y="0"/>
                </a:moveTo>
                <a:lnTo>
                  <a:pt x="4085891" y="0"/>
                </a:lnTo>
                <a:lnTo>
                  <a:pt x="4085891" y="3100170"/>
                </a:lnTo>
                <a:lnTo>
                  <a:pt x="0" y="3100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39591">
            <a:off x="3260833" y="7357737"/>
            <a:ext cx="1250378" cy="2326285"/>
          </a:xfrm>
          <a:custGeom>
            <a:avLst/>
            <a:gdLst/>
            <a:ahLst/>
            <a:cxnLst/>
            <a:rect r="r" b="b" t="t" l="l"/>
            <a:pathLst>
              <a:path h="2326285" w="1250378">
                <a:moveTo>
                  <a:pt x="0" y="0"/>
                </a:moveTo>
                <a:lnTo>
                  <a:pt x="1250378" y="0"/>
                </a:lnTo>
                <a:lnTo>
                  <a:pt x="1250378" y="2326285"/>
                </a:lnTo>
                <a:lnTo>
                  <a:pt x="0" y="2326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84004">
            <a:off x="5551499" y="7295250"/>
            <a:ext cx="7728955" cy="5983499"/>
          </a:xfrm>
          <a:custGeom>
            <a:avLst/>
            <a:gdLst/>
            <a:ahLst/>
            <a:cxnLst/>
            <a:rect r="r" b="b" t="t" l="l"/>
            <a:pathLst>
              <a:path h="5983499" w="7728955">
                <a:moveTo>
                  <a:pt x="0" y="5983500"/>
                </a:moveTo>
                <a:lnTo>
                  <a:pt x="7728955" y="5983500"/>
                </a:lnTo>
                <a:lnTo>
                  <a:pt x="7728955" y="0"/>
                </a:lnTo>
                <a:lnTo>
                  <a:pt x="0" y="0"/>
                </a:lnTo>
                <a:lnTo>
                  <a:pt x="0" y="598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06641">
            <a:off x="-2696802" y="-3805578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8" y="6636852"/>
                </a:lnTo>
                <a:lnTo>
                  <a:pt x="8572898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56265" y="2751899"/>
            <a:ext cx="10375469" cy="121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1"/>
              </a:lnSpc>
            </a:pPr>
            <a:r>
              <a:rPr lang="en-US" sz="10280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Research Question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83951" y="4744276"/>
            <a:ext cx="9720097" cy="90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931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Are high school graduation rates affected by the prevalence of nearby security cameras?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906641">
            <a:off x="15690249" y="604816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5988137"/>
                </a:moveTo>
                <a:lnTo>
                  <a:pt x="7734945" y="5988137"/>
                </a:lnTo>
                <a:lnTo>
                  <a:pt x="7734945" y="0"/>
                </a:lnTo>
                <a:lnTo>
                  <a:pt x="0" y="0"/>
                </a:lnTo>
                <a:lnTo>
                  <a:pt x="0" y="59881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4791901"/>
            <a:ext cx="2891433" cy="2193875"/>
          </a:xfrm>
          <a:custGeom>
            <a:avLst/>
            <a:gdLst/>
            <a:ahLst/>
            <a:cxnLst/>
            <a:rect r="r" b="b" t="t" l="l"/>
            <a:pathLst>
              <a:path h="2193875" w="2891433">
                <a:moveTo>
                  <a:pt x="2891433" y="0"/>
                </a:moveTo>
                <a:lnTo>
                  <a:pt x="0" y="0"/>
                </a:lnTo>
                <a:lnTo>
                  <a:pt x="0" y="2193875"/>
                </a:lnTo>
                <a:lnTo>
                  <a:pt x="2891433" y="2193875"/>
                </a:lnTo>
                <a:lnTo>
                  <a:pt x="289143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98535" y="1056685"/>
            <a:ext cx="2007679" cy="3735216"/>
          </a:xfrm>
          <a:custGeom>
            <a:avLst/>
            <a:gdLst/>
            <a:ahLst/>
            <a:cxnLst/>
            <a:rect r="r" b="b" t="t" l="l"/>
            <a:pathLst>
              <a:path h="3735216" w="2007679">
                <a:moveTo>
                  <a:pt x="0" y="0"/>
                </a:moveTo>
                <a:lnTo>
                  <a:pt x="2007678" y="0"/>
                </a:lnTo>
                <a:lnTo>
                  <a:pt x="2007678" y="3735216"/>
                </a:lnTo>
                <a:lnTo>
                  <a:pt x="0" y="3735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535" y="662431"/>
            <a:ext cx="7605890" cy="126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2"/>
              </a:lnSpc>
            </a:pPr>
            <a:r>
              <a:rPr lang="en-US" sz="10572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Methodology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35675">
            <a:off x="8810112" y="-330795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0"/>
                </a:moveTo>
                <a:lnTo>
                  <a:pt x="7734945" y="0"/>
                </a:lnTo>
                <a:lnTo>
                  <a:pt x="7734945" y="5988137"/>
                </a:lnTo>
                <a:lnTo>
                  <a:pt x="0" y="598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8018" y="2166778"/>
            <a:ext cx="3831545" cy="43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Two Main Data Sets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311" y="2732303"/>
            <a:ext cx="5246480" cy="298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School Zones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High School Districts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High School Attendance Zones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1086" y="2732303"/>
            <a:ext cx="4704417" cy="356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School Zones Graduation Rates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High School Graduation Rate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High School Graduation Rates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3691" y="7597991"/>
            <a:ext cx="4480200" cy="239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Balitmore City Cameras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Cameras</a:t>
            </a: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Security Cameras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0958" y="6454452"/>
            <a:ext cx="545666" cy="12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5"/>
              </a:lnSpc>
              <a:spcBef>
                <a:spcPct val="0"/>
              </a:spcBef>
            </a:pPr>
            <a:r>
              <a:rPr lang="en-US" sz="6318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&amp;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00391" y="2128986"/>
            <a:ext cx="1974288" cy="46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Data Sources: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3433" y="2684678"/>
            <a:ext cx="7628205" cy="626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School Zones: Open Baltimore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School Districts: Baltimore County Government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Attendance Zones: Open Data DC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Graduation Rates: Open Baltimore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Graduation Rates: Maryland State Department of Education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Graduation Rates: D.C. Public Schools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Cameras: Open Baltimore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Cameras: Baltimore County Open Data + Directly from County GIS Team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Cameras: Surveillance Under Surveillance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School Locations: Open Baltimore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School Locations: Baltimore County Open Data</a:t>
            </a:r>
          </a:p>
          <a:p>
            <a:pPr algn="l" marL="377214" indent="-188607" lvl="1">
              <a:lnSpc>
                <a:spcPts val="3564"/>
              </a:lnSpc>
              <a:buFont typeface="Arial"/>
              <a:buChar char="•"/>
            </a:pPr>
            <a:r>
              <a:rPr lang="en-US" sz="17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 School Locations: Open Data DC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06884">
            <a:off x="11745923" y="7579985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6208" y="662431"/>
            <a:ext cx="7605890" cy="126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2"/>
              </a:lnSpc>
            </a:pPr>
            <a:r>
              <a:rPr lang="en-US" sz="10572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Methodology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35675">
            <a:off x="8810112" y="-330795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0"/>
                </a:moveTo>
                <a:lnTo>
                  <a:pt x="7734945" y="0"/>
                </a:lnTo>
                <a:lnTo>
                  <a:pt x="7734945" y="5988137"/>
                </a:lnTo>
                <a:lnTo>
                  <a:pt x="0" y="598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98148" y="2001931"/>
            <a:ext cx="6622543" cy="6283138"/>
          </a:xfrm>
          <a:custGeom>
            <a:avLst/>
            <a:gdLst/>
            <a:ahLst/>
            <a:cxnLst/>
            <a:rect r="r" b="b" t="t" l="l"/>
            <a:pathLst>
              <a:path h="6283138" w="6622543">
                <a:moveTo>
                  <a:pt x="0" y="0"/>
                </a:moveTo>
                <a:lnTo>
                  <a:pt x="6622544" y="0"/>
                </a:lnTo>
                <a:lnTo>
                  <a:pt x="6622544" y="6283138"/>
                </a:lnTo>
                <a:lnTo>
                  <a:pt x="0" y="6283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8953" y="2732303"/>
            <a:ext cx="4480200" cy="650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Step 1: Import Shapefiles</a:t>
            </a:r>
          </a:p>
          <a:p>
            <a:pPr algn="ctr">
              <a:lnSpc>
                <a:spcPts val="4685"/>
              </a:lnSpc>
            </a:pP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Step 2: Import Graduation Rates</a:t>
            </a:r>
          </a:p>
          <a:p>
            <a:pPr algn="ctr">
              <a:lnSpc>
                <a:spcPts val="4685"/>
              </a:lnSpc>
            </a:pP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Step 3: Import Security Cameras</a:t>
            </a:r>
          </a:p>
          <a:p>
            <a:pPr algn="ctr">
              <a:lnSpc>
                <a:spcPts val="4685"/>
              </a:lnSpc>
            </a:pPr>
          </a:p>
          <a:p>
            <a:pPr algn="ctr">
              <a:lnSpc>
                <a:spcPts val="4685"/>
              </a:lnSpc>
            </a:pPr>
            <a:r>
              <a:rPr lang="en-US" sz="3347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Step 4: Import School Locations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98185" y="2770403"/>
            <a:ext cx="4916455" cy="17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Data Caveats: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All data is for 2023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MacArthur High School was renamed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Duke Ellington High School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9221" y="5183064"/>
            <a:ext cx="5105419" cy="380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County’s graduation rates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had to be input manually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D.C.’s Cameras had to be downloaded in three chunks and converted to points from a CSV and then combined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The elementary and middle schools from Baltimore City and D.C. had to be trimmed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918945">
            <a:off x="-4784934" y="-2956221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06641">
            <a:off x="12358151" y="2473018"/>
            <a:ext cx="10942526" cy="8471339"/>
          </a:xfrm>
          <a:custGeom>
            <a:avLst/>
            <a:gdLst/>
            <a:ahLst/>
            <a:cxnLst/>
            <a:rect r="r" b="b" t="t" l="l"/>
            <a:pathLst>
              <a:path h="8471339" w="10942526">
                <a:moveTo>
                  <a:pt x="0" y="8471339"/>
                </a:moveTo>
                <a:lnTo>
                  <a:pt x="10942526" y="8471339"/>
                </a:lnTo>
                <a:lnTo>
                  <a:pt x="10942526" y="0"/>
                </a:lnTo>
                <a:lnTo>
                  <a:pt x="0" y="0"/>
                </a:lnTo>
                <a:lnTo>
                  <a:pt x="0" y="84713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30262" y="2511239"/>
            <a:ext cx="1841259" cy="3425598"/>
          </a:xfrm>
          <a:custGeom>
            <a:avLst/>
            <a:gdLst/>
            <a:ahLst/>
            <a:cxnLst/>
            <a:rect r="r" b="b" t="t" l="l"/>
            <a:pathLst>
              <a:path h="3425598" w="1841259">
                <a:moveTo>
                  <a:pt x="0" y="0"/>
                </a:moveTo>
                <a:lnTo>
                  <a:pt x="1841259" y="0"/>
                </a:lnTo>
                <a:lnTo>
                  <a:pt x="1841259" y="3425599"/>
                </a:lnTo>
                <a:lnTo>
                  <a:pt x="0" y="3425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23465" y="8723153"/>
            <a:ext cx="7983078" cy="1988512"/>
          </a:xfrm>
          <a:custGeom>
            <a:avLst/>
            <a:gdLst/>
            <a:ahLst/>
            <a:cxnLst/>
            <a:rect r="r" b="b" t="t" l="l"/>
            <a:pathLst>
              <a:path h="1988512" w="7983078">
                <a:moveTo>
                  <a:pt x="0" y="0"/>
                </a:moveTo>
                <a:lnTo>
                  <a:pt x="7983079" y="0"/>
                </a:lnTo>
                <a:lnTo>
                  <a:pt x="7983079" y="1988512"/>
                </a:lnTo>
                <a:lnTo>
                  <a:pt x="0" y="1988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87744" y="942283"/>
            <a:ext cx="9909756" cy="7964966"/>
          </a:xfrm>
          <a:custGeom>
            <a:avLst/>
            <a:gdLst/>
            <a:ahLst/>
            <a:cxnLst/>
            <a:rect r="r" b="b" t="t" l="l"/>
            <a:pathLst>
              <a:path h="7964966" w="9909756">
                <a:moveTo>
                  <a:pt x="0" y="0"/>
                </a:moveTo>
                <a:lnTo>
                  <a:pt x="9909755" y="0"/>
                </a:lnTo>
                <a:lnTo>
                  <a:pt x="9909755" y="7964967"/>
                </a:lnTo>
                <a:lnTo>
                  <a:pt x="0" y="7964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89325" y="760544"/>
            <a:ext cx="11262727" cy="134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11164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075" y="3178695"/>
            <a:ext cx="6299494" cy="36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041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Summarize Within: Used to find out how many cameras were located in each zone</a:t>
            </a:r>
          </a:p>
          <a:p>
            <a:pPr algn="ctr">
              <a:lnSpc>
                <a:spcPts val="3650"/>
              </a:lnSpc>
            </a:pPr>
            <a:r>
              <a:rPr lang="en-US" sz="3041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New table was exported as an excel</a:t>
            </a:r>
          </a:p>
          <a:p>
            <a:pPr algn="ctr">
              <a:lnSpc>
                <a:spcPts val="3650"/>
              </a:lnSpc>
            </a:pPr>
            <a:r>
              <a:rPr lang="en-US" sz="3041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Regression analysis was conducted on the resulting dataset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918945">
            <a:off x="-4784934" y="-2956221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06641">
            <a:off x="12358151" y="2473018"/>
            <a:ext cx="10942526" cy="8471339"/>
          </a:xfrm>
          <a:custGeom>
            <a:avLst/>
            <a:gdLst/>
            <a:ahLst/>
            <a:cxnLst/>
            <a:rect r="r" b="b" t="t" l="l"/>
            <a:pathLst>
              <a:path h="8471339" w="10942526">
                <a:moveTo>
                  <a:pt x="0" y="8471339"/>
                </a:moveTo>
                <a:lnTo>
                  <a:pt x="10942526" y="8471339"/>
                </a:lnTo>
                <a:lnTo>
                  <a:pt x="10942526" y="0"/>
                </a:lnTo>
                <a:lnTo>
                  <a:pt x="0" y="0"/>
                </a:lnTo>
                <a:lnTo>
                  <a:pt x="0" y="84713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3142" y="6056582"/>
            <a:ext cx="8635751" cy="4069598"/>
          </a:xfrm>
          <a:custGeom>
            <a:avLst/>
            <a:gdLst/>
            <a:ahLst/>
            <a:cxnLst/>
            <a:rect r="r" b="b" t="t" l="l"/>
            <a:pathLst>
              <a:path h="4069598" w="8635751">
                <a:moveTo>
                  <a:pt x="0" y="0"/>
                </a:moveTo>
                <a:lnTo>
                  <a:pt x="8635751" y="0"/>
                </a:lnTo>
                <a:lnTo>
                  <a:pt x="8635751" y="4069598"/>
                </a:lnTo>
                <a:lnTo>
                  <a:pt x="0" y="4069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350263"/>
            <a:ext cx="9364580" cy="3371249"/>
          </a:xfrm>
          <a:custGeom>
            <a:avLst/>
            <a:gdLst/>
            <a:ahLst/>
            <a:cxnLst/>
            <a:rect r="r" b="b" t="t" l="l"/>
            <a:pathLst>
              <a:path h="3371249" w="9364580">
                <a:moveTo>
                  <a:pt x="0" y="0"/>
                </a:moveTo>
                <a:lnTo>
                  <a:pt x="9364580" y="0"/>
                </a:lnTo>
                <a:lnTo>
                  <a:pt x="9364580" y="3371249"/>
                </a:lnTo>
                <a:lnTo>
                  <a:pt x="0" y="3371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61163" y="2253319"/>
            <a:ext cx="8695459" cy="3565138"/>
          </a:xfrm>
          <a:custGeom>
            <a:avLst/>
            <a:gdLst/>
            <a:ahLst/>
            <a:cxnLst/>
            <a:rect r="r" b="b" t="t" l="l"/>
            <a:pathLst>
              <a:path h="3565138" w="8695459">
                <a:moveTo>
                  <a:pt x="0" y="0"/>
                </a:moveTo>
                <a:lnTo>
                  <a:pt x="8695459" y="0"/>
                </a:lnTo>
                <a:lnTo>
                  <a:pt x="8695459" y="3565138"/>
                </a:lnTo>
                <a:lnTo>
                  <a:pt x="0" y="3565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89325" y="760544"/>
            <a:ext cx="11262727" cy="134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11164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06641">
            <a:off x="-2696802" y="-3805578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8" y="6636852"/>
                </a:lnTo>
                <a:lnTo>
                  <a:pt x="8572898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06641">
            <a:off x="15690249" y="604816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5988137"/>
                </a:moveTo>
                <a:lnTo>
                  <a:pt x="7734945" y="5988137"/>
                </a:lnTo>
                <a:lnTo>
                  <a:pt x="7734945" y="0"/>
                </a:lnTo>
                <a:lnTo>
                  <a:pt x="0" y="0"/>
                </a:lnTo>
                <a:lnTo>
                  <a:pt x="0" y="59881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0157" y="2071945"/>
            <a:ext cx="6268018" cy="5063944"/>
          </a:xfrm>
          <a:custGeom>
            <a:avLst/>
            <a:gdLst/>
            <a:ahLst/>
            <a:cxnLst/>
            <a:rect r="r" b="b" t="t" l="l"/>
            <a:pathLst>
              <a:path h="5063944" w="6268018">
                <a:moveTo>
                  <a:pt x="0" y="0"/>
                </a:moveTo>
                <a:lnTo>
                  <a:pt x="6268019" y="0"/>
                </a:lnTo>
                <a:lnTo>
                  <a:pt x="6268019" y="5063944"/>
                </a:lnTo>
                <a:lnTo>
                  <a:pt x="0" y="5063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42" t="-25538" r="-2961" b="-558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6750" y="7285245"/>
            <a:ext cx="3597534" cy="679635"/>
          </a:xfrm>
          <a:custGeom>
            <a:avLst/>
            <a:gdLst/>
            <a:ahLst/>
            <a:cxnLst/>
            <a:rect r="r" b="b" t="t" l="l"/>
            <a:pathLst>
              <a:path h="679635" w="3597534">
                <a:moveTo>
                  <a:pt x="0" y="0"/>
                </a:moveTo>
                <a:lnTo>
                  <a:pt x="3597534" y="0"/>
                </a:lnTo>
                <a:lnTo>
                  <a:pt x="3597534" y="679635"/>
                </a:lnTo>
                <a:lnTo>
                  <a:pt x="0" y="679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73" t="-708139" r="-26129" b="-12720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92951" y="2003708"/>
            <a:ext cx="6005792" cy="5200417"/>
          </a:xfrm>
          <a:custGeom>
            <a:avLst/>
            <a:gdLst/>
            <a:ahLst/>
            <a:cxnLst/>
            <a:rect r="r" b="b" t="t" l="l"/>
            <a:pathLst>
              <a:path h="5200417" w="6005792">
                <a:moveTo>
                  <a:pt x="0" y="0"/>
                </a:moveTo>
                <a:lnTo>
                  <a:pt x="6005792" y="0"/>
                </a:lnTo>
                <a:lnTo>
                  <a:pt x="6005792" y="5200417"/>
                </a:lnTo>
                <a:lnTo>
                  <a:pt x="0" y="5200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25" t="-7987" r="-1290" b="-4721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59894" y="7285245"/>
            <a:ext cx="3615658" cy="770253"/>
          </a:xfrm>
          <a:custGeom>
            <a:avLst/>
            <a:gdLst/>
            <a:ahLst/>
            <a:cxnLst/>
            <a:rect r="r" b="b" t="t" l="l"/>
            <a:pathLst>
              <a:path h="770253" w="3615658">
                <a:moveTo>
                  <a:pt x="0" y="0"/>
                </a:moveTo>
                <a:lnTo>
                  <a:pt x="3615657" y="0"/>
                </a:lnTo>
                <a:lnTo>
                  <a:pt x="3615657" y="770253"/>
                </a:lnTo>
                <a:lnTo>
                  <a:pt x="0" y="770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20" t="-622476" r="-25998" b="-1028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94876" y="7285245"/>
            <a:ext cx="3588472" cy="797438"/>
          </a:xfrm>
          <a:custGeom>
            <a:avLst/>
            <a:gdLst/>
            <a:ahLst/>
            <a:cxnLst/>
            <a:rect r="r" b="b" t="t" l="l"/>
            <a:pathLst>
              <a:path h="797438" w="3588472">
                <a:moveTo>
                  <a:pt x="0" y="0"/>
                </a:moveTo>
                <a:lnTo>
                  <a:pt x="3588472" y="0"/>
                </a:lnTo>
                <a:lnTo>
                  <a:pt x="3588472" y="797439"/>
                </a:lnTo>
                <a:lnTo>
                  <a:pt x="0" y="797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662" t="-598982" r="-25185" b="-9818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07286" y="1963933"/>
            <a:ext cx="5482580" cy="5240193"/>
          </a:xfrm>
          <a:custGeom>
            <a:avLst/>
            <a:gdLst/>
            <a:ahLst/>
            <a:cxnLst/>
            <a:rect r="r" b="b" t="t" l="l"/>
            <a:pathLst>
              <a:path h="5240193" w="5482580">
                <a:moveTo>
                  <a:pt x="0" y="0"/>
                </a:moveTo>
                <a:lnTo>
                  <a:pt x="5482581" y="0"/>
                </a:lnTo>
                <a:lnTo>
                  <a:pt x="5482581" y="5240192"/>
                </a:lnTo>
                <a:lnTo>
                  <a:pt x="0" y="5240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038" t="-7512" r="-2049" b="-4700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890051" y="371475"/>
            <a:ext cx="7562821" cy="137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0"/>
              </a:lnSpc>
            </a:pPr>
            <a:r>
              <a:rPr lang="en-US" sz="11465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06884">
            <a:off x="-523224" y="7391642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7287"/>
            <a:ext cx="7423107" cy="126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2"/>
              </a:lnSpc>
            </a:pPr>
            <a:r>
              <a:rPr lang="en-US" sz="10572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35675">
            <a:off x="8810112" y="-330795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0"/>
                </a:moveTo>
                <a:lnTo>
                  <a:pt x="7734945" y="0"/>
                </a:lnTo>
                <a:lnTo>
                  <a:pt x="7734945" y="5988137"/>
                </a:lnTo>
                <a:lnTo>
                  <a:pt x="0" y="598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24335" y="2812527"/>
            <a:ext cx="10098023" cy="4417885"/>
          </a:xfrm>
          <a:custGeom>
            <a:avLst/>
            <a:gdLst/>
            <a:ahLst/>
            <a:cxnLst/>
            <a:rect r="r" b="b" t="t" l="l"/>
            <a:pathLst>
              <a:path h="4417885" w="10098023">
                <a:moveTo>
                  <a:pt x="0" y="0"/>
                </a:moveTo>
                <a:lnTo>
                  <a:pt x="10098024" y="0"/>
                </a:lnTo>
                <a:lnTo>
                  <a:pt x="10098024" y="4417885"/>
                </a:lnTo>
                <a:lnTo>
                  <a:pt x="0" y="441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6710" y="1926835"/>
            <a:ext cx="5347087" cy="19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1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Regression analysis shows no correlation between high school graduation rates and nearby security cameras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84589" y="7569746"/>
            <a:ext cx="738599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Removing the outliers actually lowers the correlation for DC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More in line with Baltimore City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4036" y="4888119"/>
            <a:ext cx="5412436" cy="188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2"/>
              </a:lnSpc>
            </a:pPr>
            <a:r>
              <a:rPr lang="en-US" sz="3516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City: R</a:t>
            </a:r>
            <a:r>
              <a:rPr lang="en-US" sz="3516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2</a:t>
            </a:r>
            <a:r>
              <a:rPr lang="en-US" sz="3516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= .135</a:t>
            </a:r>
          </a:p>
          <a:p>
            <a:pPr algn="ctr">
              <a:lnSpc>
                <a:spcPts val="4922"/>
              </a:lnSpc>
            </a:pPr>
            <a:r>
              <a:rPr lang="en-US" sz="3516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Co. =  1.37E - 06</a:t>
            </a:r>
          </a:p>
          <a:p>
            <a:pPr algn="ctr">
              <a:lnSpc>
                <a:spcPts val="4922"/>
              </a:lnSpc>
            </a:pPr>
            <a:r>
              <a:rPr lang="en-US" sz="3516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DC = .222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918945">
            <a:off x="-4784934" y="-2956221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589546" y="598028"/>
            <a:ext cx="9887426" cy="117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9"/>
              </a:lnSpc>
            </a:pPr>
            <a:r>
              <a:rPr lang="en-US" sz="9801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-906641">
            <a:off x="12358151" y="2473018"/>
            <a:ext cx="10942526" cy="8471339"/>
          </a:xfrm>
          <a:custGeom>
            <a:avLst/>
            <a:gdLst/>
            <a:ahLst/>
            <a:cxnLst/>
            <a:rect r="r" b="b" t="t" l="l"/>
            <a:pathLst>
              <a:path h="8471339" w="10942526">
                <a:moveTo>
                  <a:pt x="0" y="8471339"/>
                </a:moveTo>
                <a:lnTo>
                  <a:pt x="10942526" y="8471339"/>
                </a:lnTo>
                <a:lnTo>
                  <a:pt x="10942526" y="0"/>
                </a:lnTo>
                <a:lnTo>
                  <a:pt x="0" y="0"/>
                </a:lnTo>
                <a:lnTo>
                  <a:pt x="0" y="84713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0157" y="2071945"/>
            <a:ext cx="6268018" cy="5063944"/>
          </a:xfrm>
          <a:custGeom>
            <a:avLst/>
            <a:gdLst/>
            <a:ahLst/>
            <a:cxnLst/>
            <a:rect r="r" b="b" t="t" l="l"/>
            <a:pathLst>
              <a:path h="5063944" w="6268018">
                <a:moveTo>
                  <a:pt x="0" y="0"/>
                </a:moveTo>
                <a:lnTo>
                  <a:pt x="6268019" y="0"/>
                </a:lnTo>
                <a:lnTo>
                  <a:pt x="6268019" y="5063944"/>
                </a:lnTo>
                <a:lnTo>
                  <a:pt x="0" y="5063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42" t="-25538" r="-2961" b="-5584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6750" y="7285245"/>
            <a:ext cx="3597534" cy="679635"/>
          </a:xfrm>
          <a:custGeom>
            <a:avLst/>
            <a:gdLst/>
            <a:ahLst/>
            <a:cxnLst/>
            <a:rect r="r" b="b" t="t" l="l"/>
            <a:pathLst>
              <a:path h="679635" w="3597534">
                <a:moveTo>
                  <a:pt x="0" y="0"/>
                </a:moveTo>
                <a:lnTo>
                  <a:pt x="3597534" y="0"/>
                </a:lnTo>
                <a:lnTo>
                  <a:pt x="3597534" y="679635"/>
                </a:lnTo>
                <a:lnTo>
                  <a:pt x="0" y="679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73" t="-708139" r="-26129" b="-12720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92951" y="2003708"/>
            <a:ext cx="6005792" cy="5200417"/>
          </a:xfrm>
          <a:custGeom>
            <a:avLst/>
            <a:gdLst/>
            <a:ahLst/>
            <a:cxnLst/>
            <a:rect r="r" b="b" t="t" l="l"/>
            <a:pathLst>
              <a:path h="5200417" w="6005792">
                <a:moveTo>
                  <a:pt x="0" y="0"/>
                </a:moveTo>
                <a:lnTo>
                  <a:pt x="6005792" y="0"/>
                </a:lnTo>
                <a:lnTo>
                  <a:pt x="6005792" y="5200417"/>
                </a:lnTo>
                <a:lnTo>
                  <a:pt x="0" y="5200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25" t="-7987" r="-1290" b="-4721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59894" y="7285245"/>
            <a:ext cx="3615658" cy="770253"/>
          </a:xfrm>
          <a:custGeom>
            <a:avLst/>
            <a:gdLst/>
            <a:ahLst/>
            <a:cxnLst/>
            <a:rect r="r" b="b" t="t" l="l"/>
            <a:pathLst>
              <a:path h="770253" w="3615658">
                <a:moveTo>
                  <a:pt x="0" y="0"/>
                </a:moveTo>
                <a:lnTo>
                  <a:pt x="3615657" y="0"/>
                </a:lnTo>
                <a:lnTo>
                  <a:pt x="3615657" y="770253"/>
                </a:lnTo>
                <a:lnTo>
                  <a:pt x="0" y="770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20" t="-622476" r="-25998" b="-10283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94876" y="7285245"/>
            <a:ext cx="3588472" cy="797438"/>
          </a:xfrm>
          <a:custGeom>
            <a:avLst/>
            <a:gdLst/>
            <a:ahLst/>
            <a:cxnLst/>
            <a:rect r="r" b="b" t="t" l="l"/>
            <a:pathLst>
              <a:path h="797438" w="3588472">
                <a:moveTo>
                  <a:pt x="0" y="0"/>
                </a:moveTo>
                <a:lnTo>
                  <a:pt x="3588472" y="0"/>
                </a:lnTo>
                <a:lnTo>
                  <a:pt x="3588472" y="797439"/>
                </a:lnTo>
                <a:lnTo>
                  <a:pt x="0" y="797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662" t="-598982" r="-25185" b="-9818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07286" y="1963933"/>
            <a:ext cx="5482580" cy="5240193"/>
          </a:xfrm>
          <a:custGeom>
            <a:avLst/>
            <a:gdLst/>
            <a:ahLst/>
            <a:cxnLst/>
            <a:rect r="r" b="b" t="t" l="l"/>
            <a:pathLst>
              <a:path h="5240193" w="5482580">
                <a:moveTo>
                  <a:pt x="0" y="0"/>
                </a:moveTo>
                <a:lnTo>
                  <a:pt x="5482581" y="0"/>
                </a:lnTo>
                <a:lnTo>
                  <a:pt x="5482581" y="5240192"/>
                </a:lnTo>
                <a:lnTo>
                  <a:pt x="0" y="5240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038" t="-7512" r="-2049" b="-4700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9483" y="8274573"/>
            <a:ext cx="6163303" cy="108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Schools are not doing worse due to proximity or density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Results are more in line with demographic features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Camera proximity does not appear to have an impact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918945">
            <a:off x="-4784934" y="-2956221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906641">
            <a:off x="12358151" y="2473018"/>
            <a:ext cx="10942526" cy="8471339"/>
          </a:xfrm>
          <a:custGeom>
            <a:avLst/>
            <a:gdLst/>
            <a:ahLst/>
            <a:cxnLst/>
            <a:rect r="r" b="b" t="t" l="l"/>
            <a:pathLst>
              <a:path h="8471339" w="10942526">
                <a:moveTo>
                  <a:pt x="0" y="8471339"/>
                </a:moveTo>
                <a:lnTo>
                  <a:pt x="10942526" y="8471339"/>
                </a:lnTo>
                <a:lnTo>
                  <a:pt x="10942526" y="0"/>
                </a:lnTo>
                <a:lnTo>
                  <a:pt x="0" y="0"/>
                </a:lnTo>
                <a:lnTo>
                  <a:pt x="0" y="84713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0508" y="8509125"/>
            <a:ext cx="4280732" cy="939412"/>
          </a:xfrm>
          <a:custGeom>
            <a:avLst/>
            <a:gdLst/>
            <a:ahLst/>
            <a:cxnLst/>
            <a:rect r="r" b="b" t="t" l="l"/>
            <a:pathLst>
              <a:path h="939412" w="4280732">
                <a:moveTo>
                  <a:pt x="0" y="0"/>
                </a:moveTo>
                <a:lnTo>
                  <a:pt x="4280732" y="0"/>
                </a:lnTo>
                <a:lnTo>
                  <a:pt x="4280732" y="939412"/>
                </a:lnTo>
                <a:lnTo>
                  <a:pt x="0" y="939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25" t="-605404" r="-25819" b="-10004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175" y="1911225"/>
            <a:ext cx="7523398" cy="6464549"/>
          </a:xfrm>
          <a:custGeom>
            <a:avLst/>
            <a:gdLst/>
            <a:ahLst/>
            <a:cxnLst/>
            <a:rect r="r" b="b" t="t" l="l"/>
            <a:pathLst>
              <a:path h="6464549" w="7523398">
                <a:moveTo>
                  <a:pt x="0" y="0"/>
                </a:moveTo>
                <a:lnTo>
                  <a:pt x="7523398" y="0"/>
                </a:lnTo>
                <a:lnTo>
                  <a:pt x="7523398" y="6464550"/>
                </a:lnTo>
                <a:lnTo>
                  <a:pt x="0" y="6464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8" t="-7492" r="-838" b="-4526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589546" y="598028"/>
            <a:ext cx="9887426" cy="117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9"/>
              </a:lnSpc>
            </a:pPr>
            <a:r>
              <a:rPr lang="en-US" sz="9801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1027" y="4576754"/>
            <a:ext cx="3555106" cy="213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"/>
              </a:lnSpc>
            </a:pPr>
            <a:r>
              <a:rPr lang="en-US" sz="238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Sheer density of security cameras in Baltimore</a:t>
            </a:r>
          </a:p>
          <a:p>
            <a:pPr algn="ctr">
              <a:lnSpc>
                <a:spcPts val="3332"/>
              </a:lnSpc>
            </a:pPr>
            <a:r>
              <a:rPr lang="en-US" sz="2380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Varying proximity, no impact on graduation rates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06641">
            <a:off x="-2696802" y="-3805578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8" y="6636852"/>
                </a:lnTo>
                <a:lnTo>
                  <a:pt x="8572898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8420" y="2489686"/>
            <a:ext cx="9031161" cy="127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2"/>
              </a:lnSpc>
            </a:pPr>
            <a:r>
              <a:rPr lang="en-US" sz="10688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83951" y="4392712"/>
            <a:ext cx="9720097" cy="441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931" b="true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Two possible outcomes from this investigation:</a:t>
            </a:r>
          </a:p>
          <a:p>
            <a:pPr algn="ctr">
              <a:lnSpc>
                <a:spcPts val="3518"/>
              </a:lnSpc>
            </a:pPr>
          </a:p>
          <a:p>
            <a:pPr algn="l" marL="632968" indent="-316484" lvl="1">
              <a:lnSpc>
                <a:spcPts val="3518"/>
              </a:lnSpc>
              <a:buAutoNum type="arabicPeriod" startAt="1"/>
            </a:pPr>
            <a:r>
              <a:rPr lang="en-US" b="true" sz="2931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There does not exist enough of a ‘surveillance culture’ outside of schools to affect high school graduation rates</a:t>
            </a:r>
          </a:p>
          <a:p>
            <a:pPr algn="l">
              <a:lnSpc>
                <a:spcPts val="3518"/>
              </a:lnSpc>
            </a:pPr>
          </a:p>
          <a:p>
            <a:pPr algn="l" marL="632968" indent="-316484" lvl="1">
              <a:lnSpc>
                <a:spcPts val="3518"/>
              </a:lnSpc>
              <a:buAutoNum type="arabicPeriod" startAt="1"/>
            </a:pPr>
            <a:r>
              <a:rPr lang="en-US" b="true" sz="2931">
                <a:solidFill>
                  <a:srgbClr val="46607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prevalence of security cameras outside of schools does not affect high school graduation rates in the same way security cameras do within schools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906641">
            <a:off x="15690249" y="604816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5988137"/>
                </a:moveTo>
                <a:lnTo>
                  <a:pt x="7734945" y="5988137"/>
                </a:lnTo>
                <a:lnTo>
                  <a:pt x="7734945" y="0"/>
                </a:lnTo>
                <a:lnTo>
                  <a:pt x="0" y="0"/>
                </a:lnTo>
                <a:lnTo>
                  <a:pt x="0" y="59881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50848" y="2227412"/>
            <a:ext cx="2891433" cy="2193875"/>
          </a:xfrm>
          <a:custGeom>
            <a:avLst/>
            <a:gdLst/>
            <a:ahLst/>
            <a:cxnLst/>
            <a:rect r="r" b="b" t="t" l="l"/>
            <a:pathLst>
              <a:path h="2193875" w="2891433">
                <a:moveTo>
                  <a:pt x="2891434" y="0"/>
                </a:moveTo>
                <a:lnTo>
                  <a:pt x="0" y="0"/>
                </a:lnTo>
                <a:lnTo>
                  <a:pt x="0" y="2193875"/>
                </a:lnTo>
                <a:lnTo>
                  <a:pt x="2891434" y="2193875"/>
                </a:lnTo>
                <a:lnTo>
                  <a:pt x="289143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4462" y="5523084"/>
            <a:ext cx="2007679" cy="3735216"/>
          </a:xfrm>
          <a:custGeom>
            <a:avLst/>
            <a:gdLst/>
            <a:ahLst/>
            <a:cxnLst/>
            <a:rect r="r" b="b" t="t" l="l"/>
            <a:pathLst>
              <a:path h="3735216" w="2007679">
                <a:moveTo>
                  <a:pt x="0" y="0"/>
                </a:moveTo>
                <a:lnTo>
                  <a:pt x="2007678" y="0"/>
                </a:lnTo>
                <a:lnTo>
                  <a:pt x="2007678" y="3735216"/>
                </a:lnTo>
                <a:lnTo>
                  <a:pt x="0" y="3735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06884">
            <a:off x="-523224" y="7391642"/>
            <a:ext cx="8572898" cy="6636852"/>
          </a:xfrm>
          <a:custGeom>
            <a:avLst/>
            <a:gdLst/>
            <a:ahLst/>
            <a:cxnLst/>
            <a:rect r="r" b="b" t="t" l="l"/>
            <a:pathLst>
              <a:path h="6636852" w="8572898">
                <a:moveTo>
                  <a:pt x="0" y="6636852"/>
                </a:moveTo>
                <a:lnTo>
                  <a:pt x="8572899" y="6636852"/>
                </a:lnTo>
                <a:lnTo>
                  <a:pt x="8572899" y="0"/>
                </a:lnTo>
                <a:lnTo>
                  <a:pt x="0" y="0"/>
                </a:lnTo>
                <a:lnTo>
                  <a:pt x="0" y="66368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35675">
            <a:off x="8810112" y="-3307958"/>
            <a:ext cx="7734945" cy="5988137"/>
          </a:xfrm>
          <a:custGeom>
            <a:avLst/>
            <a:gdLst/>
            <a:ahLst/>
            <a:cxnLst/>
            <a:rect r="r" b="b" t="t" l="l"/>
            <a:pathLst>
              <a:path h="5988137" w="7734945">
                <a:moveTo>
                  <a:pt x="0" y="0"/>
                </a:moveTo>
                <a:lnTo>
                  <a:pt x="7734945" y="0"/>
                </a:lnTo>
                <a:lnTo>
                  <a:pt x="7734945" y="5988137"/>
                </a:lnTo>
                <a:lnTo>
                  <a:pt x="0" y="5988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3441932">
            <a:off x="4613368" y="1905805"/>
            <a:ext cx="3086100" cy="4572143"/>
            <a:chOff x="0" y="0"/>
            <a:chExt cx="812800" cy="1204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204186"/>
            </a:xfrm>
            <a:custGeom>
              <a:avLst/>
              <a:gdLst/>
              <a:ahLst/>
              <a:cxnLst/>
              <a:rect r="r" b="b" t="t" l="l"/>
              <a:pathLst>
                <a:path h="1204186" w="812800">
                  <a:moveTo>
                    <a:pt x="406400" y="0"/>
                  </a:moveTo>
                  <a:lnTo>
                    <a:pt x="812800" y="1204186"/>
                  </a:lnTo>
                  <a:lnTo>
                    <a:pt x="0" y="12041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D02C">
                <a:alpha val="2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482886"/>
              <a:ext cx="558800" cy="63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010465">
            <a:off x="2220176" y="1190012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EF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1397387">
            <a:off x="698393" y="778239"/>
            <a:ext cx="4784651" cy="4114800"/>
          </a:xfrm>
          <a:custGeom>
            <a:avLst/>
            <a:gdLst/>
            <a:ahLst/>
            <a:cxnLst/>
            <a:rect r="r" b="b" t="t" l="l"/>
            <a:pathLst>
              <a:path h="4114800" w="4784651">
                <a:moveTo>
                  <a:pt x="0" y="0"/>
                </a:moveTo>
                <a:lnTo>
                  <a:pt x="4784651" y="0"/>
                </a:lnTo>
                <a:lnTo>
                  <a:pt x="4784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29405" y="5488002"/>
            <a:ext cx="5815339" cy="4405119"/>
          </a:xfrm>
          <a:custGeom>
            <a:avLst/>
            <a:gdLst/>
            <a:ahLst/>
            <a:cxnLst/>
            <a:rect r="r" b="b" t="t" l="l"/>
            <a:pathLst>
              <a:path h="4405119" w="5815339">
                <a:moveTo>
                  <a:pt x="0" y="0"/>
                </a:moveTo>
                <a:lnTo>
                  <a:pt x="5815339" y="0"/>
                </a:lnTo>
                <a:lnTo>
                  <a:pt x="5815339" y="4405120"/>
                </a:lnTo>
                <a:lnTo>
                  <a:pt x="0" y="440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79101" y="4750208"/>
            <a:ext cx="8329798" cy="109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4"/>
              </a:lnSpc>
            </a:pPr>
            <a:r>
              <a:rPr lang="en-US" sz="9168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QUESTIONS?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98228" y="211175"/>
            <a:ext cx="7507726" cy="117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4"/>
              </a:lnSpc>
            </a:pPr>
            <a:r>
              <a:rPr lang="en-US" sz="9865">
                <a:solidFill>
                  <a:srgbClr val="46607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References: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897" y="1303937"/>
            <a:ext cx="17804772" cy="627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(2025)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Baltimore City Schools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https://data.baltimorecity.gov/datasets/baltimore::baltimore-city-schools/about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City (2026)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CitiWatch Camera Locations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https://data.baltimorecity.gov/datasets/baltimore::citiwatch-camera-locations/about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Government (2025)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High Schools https://opendata.baltimorecountymd.gov/datasets/BC-GIS::high-schools-1/about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Government (2025)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High School Districts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 https://opendata.baltimorecountymd.gov/datasets/BC-GIS::high-school-districts/about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County Government (2023)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Truck Height Cameras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https://opendata.baltimorecountymd.gov/datasets/BC-GIS::truck-height-cameras/about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Baltimore Neighborhood Indicators Alliance (2023)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High School Completion Rate - Community Statistical Area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https://data.baltimorecity.gov/datasets/bniajfi::high-school-completion-rate-1/about?layer=0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District of Columbia Public Schools (2023)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DCPS 2023 Graduation Data Overall Subgroup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https://dcps.dc.gov/publication/dcps-data-set-graduation-rates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Maryland State Department of Education (2023)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Report Card https://reportcard.msde.maryland.gov/SchoolsList/Index?l=03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Open Data DC (2025)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DC Public Schools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https://opendata.dc.gov/datasets/DCGIS::dc-public-schools/about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Open Data DC (2023)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School Attendance Zones (Senior High)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https://opendata.dc.gov/datasets/DCGIS::school-attendance-zones-senior-high/about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Open Street Maps </a:t>
            </a:r>
            <a:r>
              <a:rPr lang="en-US" sz="2199" i="true">
                <a:solidFill>
                  <a:srgbClr val="46607D"/>
                </a:solidFill>
                <a:latin typeface="ITC Franklin Gothic LT Italics"/>
                <a:ea typeface="ITC Franklin Gothic LT Italics"/>
                <a:cs typeface="ITC Franklin Gothic LT Italics"/>
                <a:sym typeface="ITC Franklin Gothic LT Italics"/>
              </a:rPr>
              <a:t>Surveillance Under Surveillance </a:t>
            </a:r>
            <a:r>
              <a:rPr lang="en-US" sz="2199">
                <a:solidFill>
                  <a:srgbClr val="46607D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https://mapcomplete.org/surveillance.html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DAHIopq0fcA</dc:identifier>
  <dcterms:modified xsi:type="dcterms:W3CDTF">2011-08-01T06:04:30Z</dcterms:modified>
  <cp:revision>1</cp:revision>
  <dc:title>CCTV Security</dc:title>
</cp:coreProperties>
</file>